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281" r:id="rId22"/>
    <p:sldId id="275" r:id="rId23"/>
    <p:sldId id="276" r:id="rId24"/>
    <p:sldId id="277" r:id="rId25"/>
    <p:sldId id="278" r:id="rId26"/>
    <p:sldId id="282" r:id="rId27"/>
    <p:sldId id="279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49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969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6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7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9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4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7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21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0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09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63A3D-4344-495F-887E-B74B4F4687A2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3636B-BAEF-4674-8615-515B48C60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1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www.figma.com/community/templates" TargetMode="External"/><Relationship Id="rId2" Type="http://schemas.openxmlformats.org/officeDocument/2006/relationships/hyperlink" Target="https://www.lucidchart.com/pages/templat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bdiagram.io/home" TargetMode="External"/><Relationship Id="rId4" Type="http://schemas.openxmlformats.org/officeDocument/2006/relationships/hyperlink" Target="https://dbdiagram.io/d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onarsourc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olution.com/blog/application-software-deployment-checkli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Industry Specific Practices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41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 Standards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9049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IN" dirty="0" smtClean="0"/>
              <a:t>The SMART Criteria:</a:t>
            </a:r>
          </a:p>
          <a:p>
            <a:pPr lvl="1"/>
            <a:r>
              <a:rPr lang="en-US" dirty="0" smtClean="0"/>
              <a:t>Specific: Clearly define the area of concern (e.g., "Checkout latency" vs. "The site is slow").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Measurable: Quantify the gap (e.g., "5% drop in conversion due to 4-second delays").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Achievable: The problem must be solvable within the project's technical and financial scope.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Relevant: Align with broader business goals.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Time-bound: Define when the problem occurs or the deadline for the fix.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283936" y="6163689"/>
            <a:ext cx="10635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Einstein: "If I had an hour to solve a problem, I'd spend 55 minutes thinking about the problem and five minutes thinking about solutions."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15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Current vs. Desired State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760472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Desired state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Process followed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Bottlenecks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Impact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35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Who: Which users or systems are affected?</a:t>
            </a:r>
          </a:p>
          <a:p>
            <a:endParaRPr lang="en-US" dirty="0" smtClean="0"/>
          </a:p>
          <a:p>
            <a:r>
              <a:rPr lang="en-US" dirty="0" smtClean="0"/>
              <a:t>What: What is the specific failure or inefficiency?</a:t>
            </a:r>
          </a:p>
          <a:p>
            <a:endParaRPr lang="en-US" dirty="0" smtClean="0"/>
          </a:p>
          <a:p>
            <a:r>
              <a:rPr lang="en-US" dirty="0" smtClean="0"/>
              <a:t>Where: Is it in the UI, the database, or a specific geographic region?</a:t>
            </a:r>
          </a:p>
          <a:p>
            <a:endParaRPr lang="en-US" dirty="0" smtClean="0"/>
          </a:p>
          <a:p>
            <a:r>
              <a:rPr lang="en-US" dirty="0" smtClean="0"/>
              <a:t>When: Does it happen under load? Only on mobile?</a:t>
            </a:r>
          </a:p>
          <a:p>
            <a:endParaRPr lang="en-US" dirty="0" smtClean="0"/>
          </a:p>
          <a:p>
            <a:r>
              <a:rPr lang="en-US" dirty="0" smtClean="0"/>
              <a:t>Why: What is the root cause?</a:t>
            </a:r>
          </a:p>
          <a:p>
            <a:endParaRPr lang="en-US" dirty="0" smtClean="0"/>
          </a:p>
          <a:p>
            <a:r>
              <a:rPr lang="en-US" dirty="0" smtClean="0"/>
              <a:t>How: How is the problem currently being bypassed (the "workaround")?</a:t>
            </a:r>
          </a:p>
          <a:p>
            <a:endParaRPr lang="en-US" dirty="0" smtClean="0"/>
          </a:p>
          <a:p>
            <a:r>
              <a:rPr lang="en-US" dirty="0" smtClean="0"/>
              <a:t>How Much: What is the cost of doing nothing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09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ISO/IEC/IEEE 29148:2018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77653"/>
              </p:ext>
            </p:extLst>
          </p:nvPr>
        </p:nvGraphicFramePr>
        <p:xfrm>
          <a:off x="838200" y="2538254"/>
          <a:ext cx="7320280" cy="2651760"/>
        </p:xfrm>
        <a:graphic>
          <a:graphicData uri="http://schemas.openxmlformats.org/drawingml/2006/table">
            <a:tbl>
              <a:tblPr/>
              <a:tblGrid>
                <a:gridCol w="206248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Element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Description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Context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Stakeholders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  <a:effectLst/>
                          <a:latin typeface="Google Sans Text"/>
                        </a:rPr>
                        <a:t>List of parties impacted (Users, DevOps, Legal, etc.).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Scope Boundary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  <a:effectLst/>
                          <a:latin typeface="Google Sans Text"/>
                        </a:rPr>
                        <a:t>Explicitly stating what the problem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Google Sans Text"/>
                        </a:rPr>
                        <a:t>is not</a:t>
                      </a:r>
                      <a:r>
                        <a:rPr lang="en-US" dirty="0">
                          <a:solidFill>
                            <a:schemeClr val="tx2"/>
                          </a:solidFill>
                          <a:effectLst/>
                          <a:latin typeface="Google Sans Text"/>
                        </a:rPr>
                        <a:t> to avoid scope creep.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Success Criteria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  <a:effectLst/>
                          <a:latin typeface="Google Sans Text"/>
                        </a:rPr>
                        <a:t>Definition of Done (DoD) from a problem-resolution perspective.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43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Requirements Engineering Life Cycle</a:t>
            </a:r>
          </a:p>
          <a:p>
            <a:r>
              <a:rPr lang="en-US" dirty="0" smtClean="0"/>
              <a:t>Requirements Engineering Document</a:t>
            </a:r>
          </a:p>
          <a:p>
            <a:r>
              <a:rPr lang="en-US" dirty="0" smtClean="0"/>
              <a:t>Categorizing Different Types of Requirements</a:t>
            </a:r>
          </a:p>
          <a:p>
            <a:r>
              <a:rPr lang="en-IN" dirty="0" smtClean="0"/>
              <a:t>Requirements Traceability</a:t>
            </a:r>
          </a:p>
          <a:p>
            <a:r>
              <a:rPr lang="en-IN" dirty="0" smtClean="0"/>
              <a:t>Change Management Criteria</a:t>
            </a:r>
          </a:p>
          <a:p>
            <a:r>
              <a:rPr lang="en-US" dirty="0" smtClean="0"/>
              <a:t>INVEST Checklist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01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Engineering Life Cycle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Elicitation: Gathering needs via interviews, workshops, surveys, and observation.</a:t>
            </a:r>
          </a:p>
          <a:p>
            <a:endParaRPr lang="en-US" dirty="0" smtClean="0"/>
          </a:p>
          <a:p>
            <a:r>
              <a:rPr lang="en-US" dirty="0" smtClean="0"/>
              <a:t>Analysis: Negotiating conflicts (e.g., Marketing wants speed, Security wants friction) and checking feasibility.</a:t>
            </a:r>
          </a:p>
          <a:p>
            <a:endParaRPr lang="en-US" dirty="0" smtClean="0"/>
          </a:p>
          <a:p>
            <a:r>
              <a:rPr lang="en-US" dirty="0" smtClean="0"/>
              <a:t>Specification: Documenting the requirements (User Stories, PRDs, or SRS).</a:t>
            </a:r>
          </a:p>
          <a:p>
            <a:endParaRPr lang="en-US" dirty="0" smtClean="0"/>
          </a:p>
          <a:p>
            <a:r>
              <a:rPr lang="en-US" dirty="0" smtClean="0"/>
              <a:t>Validation: Confirming with the stakeholder that "Yes, this is actually what I meant."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52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Requirements Engineering Document</a:t>
            </a:r>
            <a:br>
              <a:rPr lang="en-US" dirty="0" smtClean="0"/>
            </a:b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92592"/>
              </p:ext>
            </p:extLst>
          </p:nvPr>
        </p:nvGraphicFramePr>
        <p:xfrm>
          <a:off x="2965225" y="1690688"/>
          <a:ext cx="5940425" cy="349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Document" r:id="rId3" imgW="5940848" imgH="3498809" progId="Word.Document.12">
                  <p:embed/>
                </p:oleObj>
              </mc:Choice>
              <mc:Fallback>
                <p:oleObj name="Document" r:id="rId3" imgW="5940848" imgH="34988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5225" y="1690688"/>
                        <a:ext cx="5940425" cy="349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40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Categorizing Different Types of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Functional Requirements (FRs): What the system does (e.g., "The user can reset their password").</a:t>
            </a:r>
          </a:p>
          <a:p>
            <a:endParaRPr lang="en-US" dirty="0" smtClean="0"/>
          </a:p>
          <a:p>
            <a:r>
              <a:rPr lang="en-US" dirty="0" smtClean="0"/>
              <a:t>Non-Functional Requirements (NFRs): How the system is (e.g., Performance, Security, Scalability). These are often called "Quality Attributes.“</a:t>
            </a:r>
          </a:p>
          <a:p>
            <a:pPr lvl="1"/>
            <a:r>
              <a:rPr lang="en-US" dirty="0" smtClean="0"/>
              <a:t>Scalability</a:t>
            </a:r>
            <a:endParaRPr lang="en-US" dirty="0"/>
          </a:p>
          <a:p>
            <a:pPr lvl="1"/>
            <a:r>
              <a:rPr lang="en-US" dirty="0"/>
              <a:t>Security and </a:t>
            </a:r>
            <a:r>
              <a:rPr lang="en-US" dirty="0" smtClean="0"/>
              <a:t>Compliance</a:t>
            </a:r>
            <a:endParaRPr lang="en-US" dirty="0"/>
          </a:p>
          <a:p>
            <a:pPr lvl="1"/>
            <a:r>
              <a:rPr lang="en-US" dirty="0"/>
              <a:t>Maintainability and </a:t>
            </a:r>
            <a:r>
              <a:rPr lang="en-US" dirty="0" smtClean="0"/>
              <a:t>Extensibility</a:t>
            </a:r>
          </a:p>
          <a:p>
            <a:pPr lvl="1"/>
            <a:r>
              <a:rPr lang="en-US" dirty="0" smtClean="0"/>
              <a:t>Performance and Stress</a:t>
            </a:r>
          </a:p>
          <a:p>
            <a:pPr lvl="1"/>
            <a:r>
              <a:rPr lang="en-US" dirty="0" smtClean="0"/>
              <a:t>Others</a:t>
            </a:r>
          </a:p>
          <a:p>
            <a:endParaRPr lang="en-US" dirty="0" smtClean="0"/>
          </a:p>
          <a:p>
            <a:r>
              <a:rPr lang="en-US" dirty="0" smtClean="0"/>
              <a:t>Domain Requirements: Operational Domain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262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Requirements Traceability Matrix (RTM)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630" y="1027906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47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Change Management Criteria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582584"/>
              </p:ext>
            </p:extLst>
          </p:nvPr>
        </p:nvGraphicFramePr>
        <p:xfrm>
          <a:off x="3522599" y="1439863"/>
          <a:ext cx="45577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Document" r:id="rId3" imgW="6854825" imgH="8149467" progId="Word.Document.12">
                  <p:embed/>
                </p:oleObj>
              </mc:Choice>
              <mc:Fallback>
                <p:oleObj name="Document" r:id="rId3" imgW="6854825" imgH="8149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2599" y="1439863"/>
                        <a:ext cx="45577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159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 Checklist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897378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Google Sans Text"/>
                        </a:rPr>
                        <a:t>Letter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Google Sans Text"/>
                        </a:rPr>
                        <a:t>Principle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Google Sans Text"/>
                        </a:rPr>
                        <a:t>Red Flag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Independent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Google Sans Text"/>
                        </a:rPr>
                        <a:t>"We can't start this until Story B is 100% done."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Negotiable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Google Sans Text"/>
                        </a:rPr>
                        <a:t>"The document says we must use a specific API library."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V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Valuable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Google Sans Text"/>
                        </a:rPr>
                        <a:t>"I'm refactoring code, but the user sees no change."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Estimable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Google Sans Text"/>
                        </a:rPr>
                        <a:t>"I have no idea if this will take two days or two months."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Google Sans Text"/>
                        </a:rPr>
                        <a:t>Small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Google Sans Text"/>
                        </a:rPr>
                        <a:t>"This story will likely take the whole 3-week sprint."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Google Sans Text"/>
                        </a:rPr>
                        <a:t>Testable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Google Sans Text"/>
                        </a:rPr>
                        <a:t>"The UI should feel 'snappy' and 'intuitive'."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71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Engineering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High-Level Design (HLD</a:t>
            </a:r>
            <a:r>
              <a:rPr lang="en-IN" dirty="0" smtClean="0"/>
              <a:t>)</a:t>
            </a:r>
          </a:p>
          <a:p>
            <a:pPr lvl="1"/>
            <a:r>
              <a:rPr lang="en-IN" dirty="0"/>
              <a:t>System </a:t>
            </a:r>
            <a:r>
              <a:rPr lang="en-IN" dirty="0" smtClean="0"/>
              <a:t>Architecture : </a:t>
            </a:r>
          </a:p>
          <a:p>
            <a:pPr lvl="1"/>
            <a:r>
              <a:rPr lang="en-US" dirty="0" smtClean="0"/>
              <a:t>Choosing </a:t>
            </a:r>
            <a:r>
              <a:rPr lang="en-US" dirty="0"/>
              <a:t>between Monolithic, </a:t>
            </a:r>
            <a:r>
              <a:rPr lang="en-US" dirty="0" err="1"/>
              <a:t>Microservices</a:t>
            </a:r>
            <a:r>
              <a:rPr lang="en-US" dirty="0"/>
              <a:t>, or </a:t>
            </a:r>
            <a:r>
              <a:rPr lang="en-US" dirty="0" err="1"/>
              <a:t>Serverless</a:t>
            </a:r>
            <a:r>
              <a:rPr lang="en-US" dirty="0"/>
              <a:t> architectures.</a:t>
            </a:r>
            <a:endParaRPr lang="en-IN" dirty="0" smtClean="0"/>
          </a:p>
          <a:p>
            <a:pPr lvl="1"/>
            <a:r>
              <a:rPr lang="en-IN" dirty="0"/>
              <a:t>Database </a:t>
            </a:r>
            <a:r>
              <a:rPr lang="en-IN" dirty="0" smtClean="0"/>
              <a:t>Design: </a:t>
            </a:r>
            <a:r>
              <a:rPr lang="en-US" dirty="0"/>
              <a:t>Defining Entity-Relationship Diagrams (ERDs) and choosing between SQL or NoSQL based on data consistency needs.</a:t>
            </a:r>
            <a:endParaRPr lang="en-IN" dirty="0" smtClean="0"/>
          </a:p>
          <a:p>
            <a:pPr lvl="1"/>
            <a:r>
              <a:rPr lang="en-IN" dirty="0"/>
              <a:t>Integration </a:t>
            </a:r>
            <a:r>
              <a:rPr lang="en-IN" dirty="0" smtClean="0"/>
              <a:t>Points:</a:t>
            </a:r>
          </a:p>
          <a:p>
            <a:pPr lvl="1"/>
            <a:r>
              <a:rPr lang="en-IN" dirty="0" smtClean="0"/>
              <a:t>Low-Level </a:t>
            </a:r>
            <a:r>
              <a:rPr lang="en-IN" dirty="0"/>
              <a:t>Design (LLD</a:t>
            </a:r>
            <a:r>
              <a:rPr lang="en-IN" dirty="0" smtClean="0"/>
              <a:t>)</a:t>
            </a:r>
          </a:p>
          <a:p>
            <a:pPr lvl="2"/>
            <a:r>
              <a:rPr lang="en-IN" dirty="0"/>
              <a:t>Class &amp; Sequence Diagrams</a:t>
            </a:r>
            <a:r>
              <a:rPr lang="en-IN" dirty="0" smtClean="0"/>
              <a:t>:</a:t>
            </a:r>
          </a:p>
          <a:p>
            <a:pPr lvl="2"/>
            <a:r>
              <a:rPr lang="en-IN" dirty="0"/>
              <a:t>Component </a:t>
            </a:r>
            <a:r>
              <a:rPr lang="en-IN" dirty="0" smtClean="0"/>
              <a:t>Logic</a:t>
            </a:r>
          </a:p>
          <a:p>
            <a:pPr lvl="2"/>
            <a:r>
              <a:rPr lang="en-IN" dirty="0"/>
              <a:t>UI/UX Design:</a:t>
            </a:r>
          </a:p>
        </p:txBody>
      </p:sp>
    </p:spTree>
    <p:extLst>
      <p:ext uri="{BB962C8B-B14F-4D97-AF65-F5344CB8AC3E}">
        <p14:creationId xmlns:p14="http://schemas.microsoft.com/office/powerpoint/2010/main" val="374966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 Activities &amp; </a:t>
            </a:r>
            <a:r>
              <a:rPr lang="en-IN" dirty="0" smtClean="0"/>
              <a:t>Implementation</a:t>
            </a:r>
          </a:p>
          <a:p>
            <a:pPr lvl="1"/>
            <a:r>
              <a:rPr lang="en-IN" dirty="0"/>
              <a:t>Requirement </a:t>
            </a:r>
            <a:r>
              <a:rPr lang="en-IN" dirty="0" smtClean="0"/>
              <a:t>Mapping</a:t>
            </a:r>
          </a:p>
          <a:p>
            <a:pPr lvl="1"/>
            <a:r>
              <a:rPr lang="en-IN" dirty="0"/>
              <a:t>Design Diagrams (UML Diagrams – </a:t>
            </a:r>
            <a:r>
              <a:rPr lang="en-IN" dirty="0" err="1"/>
              <a:t>Staruml</a:t>
            </a:r>
            <a:r>
              <a:rPr lang="en-IN" dirty="0"/>
              <a:t>, </a:t>
            </a:r>
            <a:r>
              <a:rPr lang="en-IN" dirty="0" err="1">
                <a:hlinkClick r:id="rId2"/>
              </a:rPr>
              <a:t>Lucidchart</a:t>
            </a:r>
            <a:r>
              <a:rPr lang="en-IN" dirty="0">
                <a:hlinkClick r:id="rId2"/>
              </a:rPr>
              <a:t> Design Templates</a:t>
            </a:r>
            <a:endParaRPr lang="en-IN" dirty="0"/>
          </a:p>
          <a:p>
            <a:pPr lvl="1"/>
            <a:r>
              <a:rPr lang="en-IN" dirty="0" smtClean="0"/>
              <a:t>Wireframes </a:t>
            </a:r>
            <a:r>
              <a:rPr lang="en-IN" dirty="0" err="1">
                <a:hlinkClick r:id="rId3"/>
              </a:rPr>
              <a:t>Figma</a:t>
            </a:r>
            <a:r>
              <a:rPr lang="en-IN" dirty="0">
                <a:hlinkClick r:id="rId3"/>
              </a:rPr>
              <a:t> Community Templates</a:t>
            </a:r>
            <a:endParaRPr lang="en-IN" dirty="0"/>
          </a:p>
          <a:p>
            <a:pPr lvl="1"/>
            <a:r>
              <a:rPr lang="en-IN" dirty="0" smtClean="0"/>
              <a:t>ER Diagram-</a:t>
            </a:r>
            <a:r>
              <a:rPr lang="en-IN" dirty="0">
                <a:hlinkClick r:id="rId4"/>
              </a:rPr>
              <a:t>Untitled - </a:t>
            </a:r>
            <a:r>
              <a:rPr lang="en-IN" dirty="0" smtClean="0">
                <a:hlinkClick r:id="rId4"/>
              </a:rPr>
              <a:t>dbdiagram.io</a:t>
            </a:r>
            <a:endParaRPr lang="en-IN" dirty="0" smtClean="0"/>
          </a:p>
          <a:p>
            <a:pPr lvl="1"/>
            <a:r>
              <a:rPr lang="en-IN" dirty="0"/>
              <a:t>Database </a:t>
            </a:r>
            <a:r>
              <a:rPr lang="en-IN" dirty="0" smtClean="0"/>
              <a:t>Schema - </a:t>
            </a:r>
            <a:r>
              <a:rPr lang="en-IN" dirty="0">
                <a:hlinkClick r:id="rId5"/>
              </a:rPr>
              <a:t>Untitled - </a:t>
            </a:r>
            <a:r>
              <a:rPr lang="en-IN" dirty="0" smtClean="0">
                <a:hlinkClick r:id="rId5"/>
              </a:rPr>
              <a:t>dbdiagram.io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38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Cohesion &amp; Coupling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Identify the Cohesion and Coupling for major modules</a:t>
            </a:r>
          </a:p>
          <a:p>
            <a:r>
              <a:rPr lang="en-IN" dirty="0" smtClean="0"/>
              <a:t>Arriving at number of modules for the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638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Design </a:t>
            </a:r>
            <a:r>
              <a:rPr lang="en-IN" dirty="0" smtClean="0"/>
              <a:t>Pattern Usage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Identify the important scenarios and suggest Patterns</a:t>
            </a:r>
          </a:p>
          <a:p>
            <a:r>
              <a:rPr lang="en-IN" dirty="0" smtClean="0"/>
              <a:t>Map Classes to appropriate patterns</a:t>
            </a:r>
          </a:p>
          <a:p>
            <a:r>
              <a:rPr lang="en-IN" dirty="0" smtClean="0"/>
              <a:t>Suggest modifications required for existing patterns(if required)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973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Architectural Styles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Usage of appropriate Architectural Styles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800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Technology </a:t>
            </a:r>
            <a:r>
              <a:rPr lang="en-US" b="1" dirty="0" smtClean="0"/>
              <a:t>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programming languages on Module basis</a:t>
            </a:r>
          </a:p>
          <a:p>
            <a:r>
              <a:rPr lang="en-US" dirty="0" smtClean="0"/>
              <a:t>Frameworks</a:t>
            </a:r>
          </a:p>
          <a:p>
            <a:r>
              <a:rPr lang="en-US" dirty="0" smtClean="0"/>
              <a:t>Infrastructure-Hardware, Databases and others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619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API </a:t>
            </a:r>
            <a:r>
              <a:rPr lang="en-IN" dirty="0" smtClean="0"/>
              <a:t>Design for Class/Component/Module Level Interactions</a:t>
            </a:r>
          </a:p>
          <a:p>
            <a:r>
              <a:rPr lang="en-IN" dirty="0"/>
              <a:t>User Interface (UI) / User Experience (UX</a:t>
            </a:r>
            <a:r>
              <a:rPr lang="en-IN" dirty="0" smtClean="0"/>
              <a:t>)-Wire Frames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491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UML  Diagrams</a:t>
            </a:r>
            <a:endParaRPr lang="en-IN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2400" y="2933446"/>
            <a:ext cx="55443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Views (Structure):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Class, Component, Package, and Deployment diagrams.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Views (Behavior):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Sequence, Activity, and State Machine diagrams.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Views: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Case diagrams.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525" y="2241700"/>
            <a:ext cx="6747107" cy="327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52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Document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012142"/>
              </p:ext>
            </p:extLst>
          </p:nvPr>
        </p:nvGraphicFramePr>
        <p:xfrm>
          <a:off x="6239891" y="365125"/>
          <a:ext cx="4662488" cy="603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Acrobat Document" r:id="rId3" imgW="4663262" imgH="6035040" progId="Acrobat.Document.DC">
                  <p:embed/>
                </p:oleObj>
              </mc:Choice>
              <mc:Fallback>
                <p:oleObj name="Acrobat Document" r:id="rId3" imgW="4663262" imgH="603504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9891" y="365125"/>
                        <a:ext cx="4662488" cy="603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81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Coding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Clean Code &amp; </a:t>
            </a:r>
            <a:r>
              <a:rPr lang="en-IN" dirty="0" smtClean="0"/>
              <a:t>Readability</a:t>
            </a:r>
          </a:p>
          <a:p>
            <a:r>
              <a:rPr lang="en-IN" dirty="0"/>
              <a:t>Descriptive </a:t>
            </a:r>
            <a:r>
              <a:rPr lang="en-IN" dirty="0" smtClean="0"/>
              <a:t>Naming</a:t>
            </a:r>
          </a:p>
          <a:p>
            <a:r>
              <a:rPr lang="en-IN" dirty="0"/>
              <a:t>DRY (Don't Repeat Yourself</a:t>
            </a:r>
            <a:r>
              <a:rPr lang="en-IN" dirty="0" smtClean="0"/>
              <a:t>)</a:t>
            </a:r>
          </a:p>
          <a:p>
            <a:r>
              <a:rPr lang="en-US" dirty="0"/>
              <a:t>KISS (Keep It Simple, Stupid): </a:t>
            </a:r>
            <a:endParaRPr lang="en-US" dirty="0" smtClean="0"/>
          </a:p>
          <a:p>
            <a:pPr lvl="1"/>
            <a:r>
              <a:rPr lang="en-US" dirty="0" smtClean="0"/>
              <a:t>Prioritize </a:t>
            </a:r>
            <a:r>
              <a:rPr lang="en-US" dirty="0"/>
              <a:t>clear, straightforward logic over "clever" code</a:t>
            </a:r>
            <a:r>
              <a:rPr lang="en-US" dirty="0" smtClean="0"/>
              <a:t>.</a:t>
            </a:r>
          </a:p>
          <a:p>
            <a:r>
              <a:rPr lang="en-IN" dirty="0"/>
              <a:t>Defensive Programming &amp; </a:t>
            </a:r>
            <a:r>
              <a:rPr lang="en-IN" dirty="0" smtClean="0"/>
              <a:t>Testing</a:t>
            </a:r>
          </a:p>
          <a:p>
            <a:pPr lvl="1"/>
            <a:r>
              <a:rPr lang="en-IN" dirty="0"/>
              <a:t>Unit </a:t>
            </a:r>
            <a:r>
              <a:rPr lang="en-IN" dirty="0" smtClean="0"/>
              <a:t>Testing</a:t>
            </a:r>
          </a:p>
          <a:p>
            <a:pPr lvl="1"/>
            <a:r>
              <a:rPr lang="en-IN" dirty="0"/>
              <a:t>Input </a:t>
            </a:r>
            <a:r>
              <a:rPr lang="en-IN" dirty="0" smtClean="0"/>
              <a:t>Validation of external inputs/parameters</a:t>
            </a:r>
          </a:p>
          <a:p>
            <a:pPr lvl="1"/>
            <a:r>
              <a:rPr lang="en-IN" dirty="0"/>
              <a:t>Error </a:t>
            </a:r>
            <a:r>
              <a:rPr lang="en-IN" dirty="0" smtClean="0"/>
              <a:t>Handling</a:t>
            </a:r>
          </a:p>
          <a:p>
            <a:r>
              <a:rPr lang="en-IN" dirty="0"/>
              <a:t>Collaborative </a:t>
            </a:r>
            <a:r>
              <a:rPr lang="en-IN" dirty="0" smtClean="0"/>
              <a:t>Workflows</a:t>
            </a:r>
          </a:p>
          <a:p>
            <a:pPr lvl="1"/>
            <a:r>
              <a:rPr lang="en-IN" dirty="0"/>
              <a:t>Code </a:t>
            </a:r>
            <a:r>
              <a:rPr lang="en-IN" dirty="0" smtClean="0"/>
              <a:t>Reviews by peers</a:t>
            </a:r>
          </a:p>
          <a:p>
            <a:r>
              <a:rPr lang="en-IN" dirty="0"/>
              <a:t>Documentation and </a:t>
            </a:r>
            <a:r>
              <a:rPr lang="en-IN" dirty="0" smtClean="0"/>
              <a:t>Tooling</a:t>
            </a:r>
          </a:p>
          <a:p>
            <a:pPr lvl="1"/>
            <a:r>
              <a:rPr lang="en-US" dirty="0"/>
              <a:t>Comments that explain "Why," not "</a:t>
            </a:r>
            <a:r>
              <a:rPr lang="en-US" dirty="0" smtClean="0"/>
              <a:t>What“</a:t>
            </a:r>
          </a:p>
          <a:p>
            <a:pPr lvl="1"/>
            <a:r>
              <a:rPr lang="en-IN" dirty="0"/>
              <a:t>Automated </a:t>
            </a:r>
            <a:r>
              <a:rPr lang="en-IN" dirty="0" err="1"/>
              <a:t>Linting</a:t>
            </a:r>
            <a:r>
              <a:rPr lang="en-IN" dirty="0"/>
              <a:t> and Formatting</a:t>
            </a:r>
          </a:p>
        </p:txBody>
      </p:sp>
    </p:spTree>
    <p:extLst>
      <p:ext uri="{BB962C8B-B14F-4D97-AF65-F5344CB8AC3E}">
        <p14:creationId xmlns:p14="http://schemas.microsoft.com/office/powerpoint/2010/main" val="1417178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Code </a:t>
            </a:r>
            <a:r>
              <a:rPr lang="en-IN" dirty="0" err="1" smtClean="0"/>
              <a:t>Analyzers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Static Code </a:t>
            </a:r>
            <a:r>
              <a:rPr lang="en-IN" dirty="0" err="1" smtClean="0"/>
              <a:t>Analyzer</a:t>
            </a:r>
            <a:r>
              <a:rPr lang="en-IN" dirty="0"/>
              <a:t> </a:t>
            </a:r>
            <a:endParaRPr lang="en-IN" dirty="0" smtClean="0"/>
          </a:p>
          <a:p>
            <a:pPr lvl="1"/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</a:t>
            </a:r>
            <a:r>
              <a:rPr lang="en-IN" dirty="0" smtClean="0">
                <a:hlinkClick r:id="rId2"/>
              </a:rPr>
              <a:t>www.sonarsource.com</a:t>
            </a:r>
            <a:endParaRPr lang="en-IN" dirty="0"/>
          </a:p>
          <a:p>
            <a:r>
              <a:rPr lang="en-IN" dirty="0" smtClean="0"/>
              <a:t>Dynamic Code Analysis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570" y="0"/>
            <a:ext cx="4373430" cy="3269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3" y="3486915"/>
            <a:ext cx="4961701" cy="301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89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AI Code Analysis 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310754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18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Source Dynamic Code </a:t>
            </a:r>
            <a:r>
              <a:rPr lang="en-IN" dirty="0" err="1"/>
              <a:t>Analyzers</a:t>
            </a:r>
            <a:r>
              <a:rPr lang="en-IN" dirty="0"/>
              <a:t> for FSD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506" y="1690688"/>
            <a:ext cx="9346987" cy="485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71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Test Case Life Cycle</a:t>
            </a:r>
            <a:endParaRPr lang="en-IN" dirty="0"/>
          </a:p>
        </p:txBody>
      </p:sp>
      <p:pic>
        <p:nvPicPr>
          <p:cNvPr id="11266" name="Picture 2" descr="The six phases of the software testing life cycle | by Rodrigo Alves Costa  | Software Testing Daily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295" y="2572544"/>
            <a:ext cx="50863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463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 Templates</a:t>
            </a:r>
          </a:p>
          <a:p>
            <a:r>
              <a:rPr lang="en-IN" dirty="0"/>
              <a:t>https://strongqa.com/qa-portal/testing-docs-templates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300973"/>
              </p:ext>
            </p:extLst>
          </p:nvPr>
        </p:nvGraphicFramePr>
        <p:xfrm>
          <a:off x="6601968" y="2990977"/>
          <a:ext cx="4134993" cy="28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Worksheet" r:id="rId3" imgW="6576104" imgH="4579725" progId="Excel.Sheet.12">
                  <p:embed/>
                </p:oleObj>
              </mc:Choice>
              <mc:Fallback>
                <p:oleObj name="Worksheet" r:id="rId3" imgW="6576104" imgH="45797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1968" y="2990977"/>
                        <a:ext cx="4134993" cy="28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4214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Deployment Checklist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Checklist for Application Deployment | </a:t>
            </a:r>
            <a:r>
              <a:rPr lang="en-IN" dirty="0" err="1">
                <a:hlinkClick r:id="rId2"/>
              </a:rPr>
              <a:t>Techolution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563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837</Words>
  <Application>Microsoft Office PowerPoint</Application>
  <PresentationFormat>Widescreen</PresentationFormat>
  <Paragraphs>159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Google Sans Text</vt:lpstr>
      <vt:lpstr>Office Theme</vt:lpstr>
      <vt:lpstr>Document</vt:lpstr>
      <vt:lpstr>Acrobat Document</vt:lpstr>
      <vt:lpstr>Microsoft Excel Worksheet</vt:lpstr>
      <vt:lpstr>Industry Specific Practices</vt:lpstr>
      <vt:lpstr>Problem Definition Standards</vt:lpstr>
      <vt:lpstr>Current vs. Desired State</vt:lpstr>
      <vt:lpstr>About the Problem</vt:lpstr>
      <vt:lpstr>ISO/IEC/IEEE 29148:2018</vt:lpstr>
      <vt:lpstr>Requirements</vt:lpstr>
      <vt:lpstr>Requirements Engineering Life Cycle</vt:lpstr>
      <vt:lpstr>Requirements Engineering Document </vt:lpstr>
      <vt:lpstr>Categorizing Different Types of Requirements</vt:lpstr>
      <vt:lpstr>PowerPoint Presentation</vt:lpstr>
      <vt:lpstr>Change Management Criteria</vt:lpstr>
      <vt:lpstr>INVEST Checklist</vt:lpstr>
      <vt:lpstr>Design Engineering</vt:lpstr>
      <vt:lpstr>PowerPoint Presentation</vt:lpstr>
      <vt:lpstr>Cohesion &amp; Coupling</vt:lpstr>
      <vt:lpstr>Design Pattern Usage</vt:lpstr>
      <vt:lpstr>Architectural Styles</vt:lpstr>
      <vt:lpstr>Technology Stack</vt:lpstr>
      <vt:lpstr>Interface Design</vt:lpstr>
      <vt:lpstr>UML  Diagrams</vt:lpstr>
      <vt:lpstr>Design Document</vt:lpstr>
      <vt:lpstr>Coding Practices</vt:lpstr>
      <vt:lpstr>Code Analyzers</vt:lpstr>
      <vt:lpstr>AI Code Analysis Tools</vt:lpstr>
      <vt:lpstr>Open Source Dynamic Code Analyzers for FSD Projects</vt:lpstr>
      <vt:lpstr>Testing</vt:lpstr>
      <vt:lpstr>Testing</vt:lpstr>
      <vt:lpstr>Deployment Checklist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Specific Practices</dc:title>
  <dc:creator>HP</dc:creator>
  <cp:lastModifiedBy>Microsoft account</cp:lastModifiedBy>
  <cp:revision>26</cp:revision>
  <dcterms:created xsi:type="dcterms:W3CDTF">2026-04-02T00:00:44Z</dcterms:created>
  <dcterms:modified xsi:type="dcterms:W3CDTF">2026-04-29T02:29:55Z</dcterms:modified>
</cp:coreProperties>
</file>